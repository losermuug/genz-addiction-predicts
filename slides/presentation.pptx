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Naive Bayes ашиглан social media донтолтын түвшин тогтоох нь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 Z хэрэглэгчдийн social media хэрэглээний өгөгдөл дээр хийсэн машин сургалтын төсөл</a:t>
            </a:r>
            <a:br/>
            <a:br/>
            <a:r>
              <a:rPr/>
              <a:t>Багийн нэр / гишүүдийн нэрс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оны 5-р сарын 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Агуулга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Судалгааны асуудал</a:t>
            </a:r>
          </a:p>
          <a:p>
            <a:pPr lvl="0"/>
            <a:r>
              <a:rPr/>
              <a:t>Өгөгдлийн бүтэц</a:t>
            </a:r>
          </a:p>
          <a:p>
            <a:pPr lvl="0"/>
            <a:r>
              <a:rPr/>
              <a:t>Өгөгдөл бэлтгэл</a:t>
            </a:r>
          </a:p>
          <a:p>
            <a:pPr lvl="0"/>
            <a:r>
              <a:rPr/>
              <a:t>Naive Bayes арга зүй</a:t>
            </a:r>
          </a:p>
          <a:p>
            <a:pPr lvl="0"/>
            <a:r>
              <a:rPr/>
              <a:t>Загварын хэрэгжүүлэлт</a:t>
            </a:r>
          </a:p>
          <a:p>
            <a:pPr lvl="0"/>
            <a:r>
              <a:rPr/>
              <a:t>Үр дүн ба confusion matrix</a:t>
            </a:r>
          </a:p>
          <a:p>
            <a:pPr lvl="0"/>
            <a:r>
              <a:rPr/>
              <a:t>Дүгнэлт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Судалгааны асуудал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Social media хэрэглээний хэв маяг хэрэглэгч бүр дээр ялгаатай.</a:t>
            </a:r>
          </a:p>
          <a:p>
            <a:pPr lvl="0" indent="0" marL="0">
              <a:buNone/>
            </a:pPr>
            <a:r>
              <a:rPr/>
              <a:t>Энэ төслийн үндсэн асуулт:</a:t>
            </a:r>
          </a:p>
          <a:p>
            <a:pPr lvl="0" indent="0" marL="1270000">
              <a:buNone/>
            </a:pPr>
            <a:r>
              <a:rPr sz="2000"/>
              <a:t>Social media хэрэглээний өгөгдлөөр хэрэглэгчийн донтолтын түвшинг </a:t>
            </a:r>
            <a:r>
              <a:rPr sz="2000">
                <a:latin typeface="Courier"/>
              </a:rPr>
              <a:t>Low</a:t>
            </a:r>
            <a:r>
              <a:rPr sz="2000"/>
              <a:t>, </a:t>
            </a:r>
            <a:r>
              <a:rPr sz="2000">
                <a:latin typeface="Courier"/>
              </a:rPr>
              <a:t>Medium</a:t>
            </a:r>
            <a:r>
              <a:rPr sz="2000"/>
              <a:t>, </a:t>
            </a:r>
            <a:r>
              <a:rPr sz="2000">
                <a:latin typeface="Courier"/>
              </a:rPr>
              <a:t>High</a:t>
            </a:r>
            <a:r>
              <a:rPr sz="2000"/>
              <a:t> гэж автоматаар ангилж болох уу?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Төслийн зорилго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 Z хэрэглэгчдийн social media хэрэглээний өгөгдлийг ашиглан </a:t>
            </a:r>
            <a:r>
              <a:rPr>
                <a:latin typeface="Courier"/>
              </a:rPr>
              <a:t>addiction_level</a:t>
            </a:r>
            <a:r>
              <a:rPr/>
              <a:t> буюу донтолтын түвшинг Naive Bayes алгоритмаар ангилах.</a:t>
            </a:r>
          </a:p>
          <a:p>
            <a:pPr lvl="0" indent="0" marL="0">
              <a:buNone/>
            </a:pPr>
            <a:r>
              <a:rPr/>
              <a:t>Зорилтууд:</a:t>
            </a:r>
          </a:p>
          <a:p>
            <a:pPr lvl="0"/>
            <a:r>
              <a:rPr/>
              <a:t>Өгөгдлийг машин сургалтад бэлтгэх</a:t>
            </a:r>
          </a:p>
          <a:p>
            <a:pPr lvl="0"/>
            <a:r>
              <a:rPr/>
              <a:t>Naive Bayes загварыг Python дээр хэрэгжүүлэх</a:t>
            </a:r>
          </a:p>
          <a:p>
            <a:pPr lvl="0"/>
            <a:r>
              <a:rPr/>
              <a:t>Тоон болон категори хувьсагчийг хамтад нь ашиглах</a:t>
            </a:r>
          </a:p>
          <a:p>
            <a:pPr lvl="0"/>
            <a:r>
              <a:rPr/>
              <a:t>Загварын үр дүнг үнэлэх, дүрслэх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Өгөгдөл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Ашигласан файл:</a:t>
            </a:r>
          </a:p>
          <a:p>
            <a:pPr lvl="0" indent="0">
              <a:buNone/>
            </a:pPr>
            <a:r>
              <a:rPr>
                <a:latin typeface="Courier"/>
              </a:rPr>
              <a:t>genz_social_media_usage_1M.csv</a:t>
            </a:r>
          </a:p>
          <a:p>
            <a:pPr lvl="0" indent="0" marL="0">
              <a:buNone/>
            </a:pPr>
            <a:r>
              <a:rPr/>
              <a:t>Үндсэн мэдээлэл:</a:t>
            </a:r>
          </a:p>
          <a:p>
            <a:pPr lvl="0"/>
            <a:r>
              <a:rPr/>
              <a:t>Нийт мөр: </a:t>
            </a:r>
            <a:r>
              <a:rPr b="1"/>
              <a:t>1,000,000</a:t>
            </a:r>
          </a:p>
          <a:p>
            <a:pPr lvl="0"/>
            <a:r>
              <a:rPr/>
              <a:t>Train өгөгдөл: </a:t>
            </a:r>
            <a:r>
              <a:rPr b="1"/>
              <a:t>800,000</a:t>
            </a:r>
          </a:p>
          <a:p>
            <a:pPr lvl="0"/>
            <a:r>
              <a:rPr/>
              <a:t>Dev өгөгдөл: </a:t>
            </a:r>
            <a:r>
              <a:rPr b="1"/>
              <a:t>200,000</a:t>
            </a:r>
          </a:p>
          <a:p>
            <a:pPr lvl="0"/>
            <a:r>
              <a:rPr/>
              <a:t>Target: </a:t>
            </a:r>
            <a:r>
              <a:rPr>
                <a:latin typeface="Courier"/>
              </a:rPr>
              <a:t>addiction_level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Target ангилал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addiction_level</a:t>
            </a:r>
            <a:r>
              <a:rPr/>
              <a:t> багана нь гурван ангилалтай.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Ангилал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Утга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Бага түвшин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Дунд түвшин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Өндөр түвшин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Feature-үүд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Тоон хувьсагчид:</a:t>
            </a:r>
          </a:p>
          <a:p>
            <a:pPr lvl="0"/>
            <a:r>
              <a:rPr>
                <a:latin typeface="Courier"/>
              </a:rPr>
              <a:t>age</a:t>
            </a:r>
          </a:p>
          <a:p>
            <a:pPr lvl="0"/>
            <a:r>
              <a:rPr>
                <a:latin typeface="Courier"/>
              </a:rPr>
              <a:t>daily_usage_hours</a:t>
            </a:r>
          </a:p>
          <a:p>
            <a:pPr lvl="0"/>
            <a:r>
              <a:rPr>
                <a:latin typeface="Courier"/>
              </a:rPr>
              <a:t>num_platforms_used</a:t>
            </a:r>
          </a:p>
          <a:p>
            <a:pPr lvl="0"/>
            <a:r>
              <a:rPr>
                <a:latin typeface="Courier"/>
              </a:rPr>
              <a:t>avg_session_minutes</a:t>
            </a:r>
          </a:p>
          <a:p>
            <a:pPr lvl="0"/>
            <a:r>
              <a:rPr>
                <a:latin typeface="Courier"/>
              </a:rPr>
              <a:t>night_usage</a:t>
            </a:r>
          </a:p>
          <a:p>
            <a:pPr lvl="0"/>
            <a:r>
              <a:rPr>
                <a:latin typeface="Courier"/>
              </a:rPr>
              <a:t>mental_health_score</a:t>
            </a:r>
          </a:p>
          <a:p>
            <a:pPr lvl="0"/>
            <a:r>
              <a:rPr>
                <a:latin typeface="Courier"/>
              </a:rPr>
              <a:t>screen_time_before_sleep</a:t>
            </a:r>
          </a:p>
          <a:p>
            <a:pPr lvl="0" indent="0" marL="0">
              <a:buNone/>
            </a:pPr>
            <a:r>
              <a:rPr/>
              <a:t>Категори хувьсагчид:</a:t>
            </a:r>
          </a:p>
          <a:p>
            <a:pPr lvl="0"/>
            <a:r>
              <a:rPr>
                <a:latin typeface="Courier"/>
              </a:rPr>
              <a:t>gender</a:t>
            </a:r>
          </a:p>
          <a:p>
            <a:pPr lvl="0"/>
            <a:r>
              <a:rPr>
                <a:latin typeface="Courier"/>
              </a:rPr>
              <a:t>country</a:t>
            </a:r>
          </a:p>
          <a:p>
            <a:pPr lvl="0"/>
            <a:r>
              <a:rPr>
                <a:latin typeface="Courier"/>
              </a:rPr>
              <a:t>primary_platform</a:t>
            </a:r>
          </a:p>
          <a:p>
            <a:pPr lvl="0"/>
            <a:r>
              <a:rPr>
                <a:latin typeface="Courier"/>
              </a:rPr>
              <a:t>purpose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Өгөгдөл бэлтгэл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Хийсэн алхмууд:</a:t>
            </a:r>
          </a:p>
          <a:p>
            <a:pPr lvl="0" indent="-342900" marL="342900">
              <a:buAutoNum type="arabicPeriod"/>
            </a:pPr>
            <a:r>
              <a:rPr/>
              <a:t>CSV өгөгдөл унших</a:t>
            </a:r>
          </a:p>
          <a:p>
            <a:pPr lvl="0" indent="-342900" marL="342900">
              <a:buAutoNum type="arabicPeriod"/>
            </a:pPr>
            <a:r>
              <a:rPr/>
              <a:t>Шаардлагатай багануудыг шалгах</a:t>
            </a:r>
          </a:p>
          <a:p>
            <a:pPr lvl="0" indent="-342900" marL="342900">
              <a:buAutoNum type="arabicPeriod"/>
            </a:pPr>
            <a:r>
              <a:rPr/>
              <a:t>Missing value шалгах</a:t>
            </a:r>
          </a:p>
          <a:p>
            <a:pPr lvl="0" indent="-342900" marL="342900">
              <a:buAutoNum type="arabicPeriod"/>
            </a:pPr>
            <a:r>
              <a:rPr/>
              <a:t>Тоон багануудыг numeric төрөлд хөрвүүлэх</a:t>
            </a:r>
          </a:p>
          <a:p>
            <a:pPr lvl="0" indent="-342900" marL="342900">
              <a:buAutoNum type="arabicPeriod"/>
            </a:pPr>
            <a:r>
              <a:rPr/>
              <a:t>Категори багануудыг цэвэрлэх</a:t>
            </a:r>
          </a:p>
          <a:p>
            <a:pPr lvl="0" indent="-342900" marL="342900">
              <a:buAutoNum type="arabicPeriod"/>
            </a:pPr>
            <a:r>
              <a:rPr/>
              <a:t>Давхардсан мөр шалгах</a:t>
            </a:r>
          </a:p>
          <a:p>
            <a:pPr lvl="0" indent="-342900" marL="342900">
              <a:buAutoNum type="arabicPeriod"/>
            </a:pPr>
            <a:r>
              <a:rPr/>
              <a:t>Train/dev split хийх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Өгөгдлийн цэвэрлэгээний үр дүн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Үзүүлэлт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Утга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Анхны мөрийн тоо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1,000,000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Цэвэрлэгээний дараах мөр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1,000,000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Давхардал арилгасны дараах мөр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1,000,000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Устгасан давхардал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Өгөгдөлд missing value илрээгүй.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Ангиллын тархалт</a:t>
            </a:r>
          </a:p>
        </p:txBody>
      </p:sp>
      <p:pic>
        <p:nvPicPr>
          <p:cNvPr descr="../report/figures/class_distrib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Medium</a:t>
            </a:r>
            <a:r>
              <a:rPr/>
              <a:t> ангилал хамгийн олон тул үнэлгээнд зөвхөн accuracy ашиглах нь хангалтгүй.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Арга зүй: Naive Bayes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Naive Bayes нь Байесын теоремд тулгуурласан статистик ангиллын арга.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C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C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Энд:</a:t>
                </a:r>
              </a:p>
              <a:p>
                <a:pPr lvl="0"/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нь ангилал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нь хэрэглэгчийн feature-үүд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∣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нь тухайн ангилалд хамаарах магадлал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Хараат бусын таамаглал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Naive Bayes дараах хялбаршуулсан таамаглал ашигладаг.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P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Өөрөөр хэлбэл feature-үүдийг тухайн ангилал өгөгдсөн үед хоорондоо хараат бус гэж үзнэ.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Тоон хувьсагчид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Тоон хувьсагчдад Gaussian Naive Bayes ашигласан.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2</m:t>
                              </m:r>
                              <m:r>
                                <m:t>π</m:t>
                              </m:r>
                              <m:sSubSup>
                                <m:e>
                                  <m:r>
                                    <m:t>σ</m:t>
                                  </m:r>
                                </m:e>
                                <m:sub>
                                  <m:r>
                                    <m:t>C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m:t>exp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b>
                                <m:e>
                                  <m:r>
                                    <m:t>μ</m:t>
                                  </m:r>
                                </m:e>
                                <m:sub>
                                  <m:r>
                                    <m:t>C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2</m:t>
                              </m:r>
                              <m:sSubSup>
                                <m:e>
                                  <m:r>
                                    <m:t>σ</m:t>
                                  </m:r>
                                </m:e>
                                <m:sub>
                                  <m:r>
                                    <m:t>C</m:t>
                                  </m:r>
                                </m:sub>
                                <m:sup>
                                  <m: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Загвар class бүр дээр:</a:t>
                </a:r>
              </a:p>
              <a:p>
                <a:pPr lvl="0"/>
                <a:r>
                  <a:rPr/>
                  <a:t>дундаж утга</a:t>
                </a:r>
              </a:p>
              <a:p>
                <a:pPr lvl="0"/>
                <a:r>
                  <a:rPr/>
                  <a:t>дисперс</a:t>
                </a:r>
              </a:p>
              <a:p>
                <a:pPr lvl="0" indent="0" marL="0">
                  <a:buNone/>
                </a:pPr>
                <a:r>
                  <a:rPr/>
                  <a:t>тооцно.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Категори хувьсагчид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Категори хувьсагчдад Laplace smoothing ашигласан.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c</m:t>
                          </m:r>
                          <m:r>
                            <m:t>o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v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C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α</m:t>
                          </m:r>
                        </m:num>
                        <m:den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α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Давуу тал:</a:t>
                </a:r>
              </a:p>
              <a:p>
                <a:pPr lvl="0"/>
                <a:r>
                  <a:rPr/>
                  <a:t>Шинэ category таарахад магадлал 0 болохгүй</a:t>
                </a:r>
              </a:p>
              <a:p>
                <a:pPr lvl="0"/>
                <a:r>
                  <a:rPr/>
                  <a:t>Загвар илүү тогтвортой болно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Олон жижиг магадлалыг шууд үржүүлэхэд тоон underflow үүсэж болно.</a:t>
                </a:r>
              </a:p>
              <a:p>
                <a:pPr lvl="0" indent="0" marL="0">
                  <a:buNone/>
                </a:pPr>
                <a:r>
                  <a:rPr/>
                  <a:t>Тиймээс log probability ашигласан.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∝</m:t>
                      </m:r>
                      <m:r>
                        <m:rPr>
                          <m:sty m:val="p"/>
                        </m:rPr>
                        <m:t>log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</m:e>
                      </m:nary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∣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Шийдвэр: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C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C</m:t>
                          </m:r>
                        </m:lim>
                      </m:limLow>
                      <m:r>
                        <m:rPr>
                          <m:sty m:val="p"/>
                        </m:rPr>
                        <m:t>log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∣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Project-ийн бүтэц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src/
├── config.py
├── dataset.py
├── naive_bayes.py
├── metrics.py
├── visualization.py
└── main.py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Кодын үүрэг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Файл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Үүрэг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dataset.py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Өгөгдөл унших, цэвэрлэх, split хийх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naive_bayes.py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Bayes алгоритм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metrics.py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Accuracy, F1, confusion matrix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visualization.py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График үүсгэх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main.py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Бүх pipeline-г ажиллуулах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Ажиллуулах команд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venv .venv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source</a:t>
            </a:r>
            <a:r>
              <a:rPr>
                <a:latin typeface="Courier"/>
              </a:rPr>
              <a:t> .venv/bin/activate</a:t>
            </a:r>
            <a:br/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pip install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  <a:br/>
            <a:r>
              <a:rPr>
                <a:latin typeface="Courier"/>
              </a:rPr>
              <a:t>python3 main.py</a:t>
            </a:r>
          </a:p>
          <a:p>
            <a:pPr lvl="0" indent="0" marL="0">
              <a:buNone/>
            </a:pPr>
            <a:r>
              <a:rPr/>
              <a:t>Хүлээгдэх үндсэн гаралт:</a:t>
            </a:r>
          </a:p>
          <a:p>
            <a:pPr lvl="0" indent="0">
              <a:buNone/>
            </a:pPr>
            <a:r>
              <a:rPr>
                <a:latin typeface="Courier"/>
              </a:rPr>
              <a:t>Accuracy: 93.05%
Macro F1: 92.29%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Үр дүн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Үзүүлэлт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Утга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93.05%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Macro F1-score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92.29%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200,000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Macro F1-score ашигласнаар ангилал тус бүрийн чанарыг илүү тэнцвэртэй харсан.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Ангилал тус бүрийн үр дүн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Ангилал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F1-score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91.90%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90.42%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91.63%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93.16%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92.39%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94.82%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93.31%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94.06%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Confusion matrix</a:t>
            </a:r>
          </a:p>
        </p:txBody>
      </p:sp>
      <p:pic>
        <p:nvPicPr>
          <p:cNvPr descr="../report/figures/confusion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Confusion matrix тайлбар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Гол ажиглалтууд:</a:t>
            </a:r>
          </a:p>
          <a:p>
            <a:pPr lvl="0"/>
            <a:r>
              <a:rPr>
                <a:latin typeface="Courier"/>
              </a:rPr>
              <a:t>Medium</a:t>
            </a:r>
            <a:r>
              <a:rPr/>
              <a:t> ангилал хамгийн олон зөв таамаглагдсан</a:t>
            </a:r>
          </a:p>
          <a:p>
            <a:pPr lvl="0"/>
            <a:r>
              <a:rPr>
                <a:latin typeface="Courier"/>
              </a:rPr>
              <a:t>Low</a:t>
            </a:r>
            <a:r>
              <a:rPr/>
              <a:t> болон </a:t>
            </a:r>
            <a:r>
              <a:rPr>
                <a:latin typeface="Courier"/>
              </a:rPr>
              <a:t>High</a:t>
            </a:r>
            <a:r>
              <a:rPr/>
              <a:t> шууд их андуурагдаагүй</a:t>
            </a:r>
          </a:p>
          <a:p>
            <a:pPr lvl="0"/>
            <a:r>
              <a:rPr/>
              <a:t>Алдаа голчлон </a:t>
            </a:r>
            <a:r>
              <a:rPr>
                <a:latin typeface="Courier"/>
              </a:rPr>
              <a:t>Medium</a:t>
            </a:r>
            <a:r>
              <a:rPr/>
              <a:t> ангилалтай зааг дээр гарсан</a:t>
            </a:r>
          </a:p>
          <a:p>
            <a:pPr lvl="0"/>
            <a:r>
              <a:rPr/>
              <a:t>Энэ нь дунд түвшний хэрэглээ өндөр/бага түвшинтэй зарим шинжээр ойролцоо байж болохыг харуулна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Тоон feature-ийн ялгаа</a:t>
            </a:r>
          </a:p>
        </p:txBody>
      </p:sp>
      <p:pic>
        <p:nvPicPr>
          <p:cNvPr descr="../report/figures/numeric_feature_mea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Үр дүнгийн утга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Загвар сайн ажилласан шалтгаан:</a:t>
            </a:r>
          </a:p>
          <a:p>
            <a:pPr lvl="0"/>
            <a:r>
              <a:rPr/>
              <a:t>Өгөгдлийн хэмжээ их</a:t>
            </a:r>
          </a:p>
          <a:p>
            <a:pPr lvl="0"/>
            <a:r>
              <a:rPr/>
              <a:t>Тоон feature-үүд target ангилалтай ялгарах мэдээлэл агуулсан</a:t>
            </a:r>
          </a:p>
          <a:p>
            <a:pPr lvl="0"/>
            <a:r>
              <a:rPr/>
              <a:t>Категори feature-үүд хэрэглээний хэв маягийг нэмэлтээр тайлбарласан</a:t>
            </a:r>
          </a:p>
          <a:p>
            <a:pPr lvl="0"/>
            <a:r>
              <a:rPr/>
              <a:t>Naive Bayes том өгөгдөл дээр хурдан сурсан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Давуу тал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Naive Bayes загварын давуу тал:</a:t>
            </a:r>
          </a:p>
          <a:p>
            <a:pPr lvl="0"/>
            <a:r>
              <a:rPr/>
              <a:t>Хэрэгжүүлэхэд энгийн</a:t>
            </a:r>
          </a:p>
          <a:p>
            <a:pPr lvl="0"/>
            <a:r>
              <a:rPr/>
              <a:t>Тооцоолол хурдан</a:t>
            </a:r>
          </a:p>
          <a:p>
            <a:pPr lvl="0"/>
            <a:r>
              <a:rPr/>
              <a:t>Том өгөгдөл дээр хөнгөн</a:t>
            </a:r>
          </a:p>
          <a:p>
            <a:pPr lvl="0"/>
            <a:r>
              <a:rPr/>
              <a:t>Магадлалын тайлбартай</a:t>
            </a:r>
          </a:p>
          <a:p>
            <a:pPr lvl="0"/>
            <a:r>
              <a:rPr/>
              <a:t>Ангилал тус бүрийн параметрийг харах боломжтой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Хязгаарлалт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Энэхүү загвар дараах хязгаарлалттай:</a:t>
            </a:r>
          </a:p>
          <a:p>
            <a:pPr lvl="0"/>
            <a:r>
              <a:rPr/>
              <a:t>Feature-үүдийг хараат бус гэж үздэг</a:t>
            </a:r>
          </a:p>
          <a:p>
            <a:pPr lvl="0"/>
            <a:r>
              <a:rPr/>
              <a:t>Тоон feature-үүдийг Gaussian тархалттай гэж ойролцоолдог</a:t>
            </a:r>
          </a:p>
          <a:p>
            <a:pPr lvl="0"/>
            <a:r>
              <a:rPr>
                <a:latin typeface="Courier"/>
              </a:rPr>
              <a:t>addiction_level</a:t>
            </a:r>
            <a:r>
              <a:rPr/>
              <a:t> нь өгөгдлийн label болохоос эмнэлзүйн онош биш</a:t>
            </a:r>
          </a:p>
          <a:p>
            <a:pPr lvl="0"/>
            <a:r>
              <a:rPr/>
              <a:t>Өгөгдлийн эх сурвалж, label үүссэн арга тодорхой байх тусам дүгнэлт илүү найдвартай болно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Ёс зүйн анхаарах зүйл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Энэ загварыг:</a:t>
            </a:r>
          </a:p>
          <a:p>
            <a:pPr lvl="0"/>
            <a:r>
              <a:rPr/>
              <a:t>Хүнийг оношлох</a:t>
            </a:r>
          </a:p>
          <a:p>
            <a:pPr lvl="0"/>
            <a:r>
              <a:rPr/>
              <a:t>Шошголох</a:t>
            </a:r>
          </a:p>
          <a:p>
            <a:pPr lvl="0"/>
            <a:r>
              <a:rPr/>
              <a:t>Ялгаварлах</a:t>
            </a:r>
          </a:p>
          <a:p>
            <a:pPr lvl="0"/>
            <a:r>
              <a:rPr/>
              <a:t>Бодит сэтгэлзүйн үнэлгээ орлуулах</a:t>
            </a:r>
          </a:p>
          <a:p>
            <a:pPr lvl="0" indent="0" marL="0">
              <a:buNone/>
            </a:pPr>
            <a:r>
              <a:rPr/>
              <a:t>зорилгоор ашиглах ёсгүй.</a:t>
            </a:r>
          </a:p>
          <a:p>
            <a:pPr lvl="0" indent="0" marL="0">
              <a:buNone/>
            </a:pPr>
            <a:r>
              <a:rPr/>
              <a:t>Энэ нь сургалт, судалгааны зориулалттай машин сургалтын загвар юм.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Дүгнэлт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Судалгааны хүрээнд:</a:t>
            </a:r>
          </a:p>
          <a:p>
            <a:pPr lvl="0"/>
            <a:r>
              <a:rPr/>
              <a:t>1,000,000 мөр өгөгдлийг боловсруулсан</a:t>
            </a:r>
          </a:p>
          <a:p>
            <a:pPr lvl="0"/>
            <a:r>
              <a:rPr/>
              <a:t>Naive Bayes алгоритмыг Python дээр хэрэгжүүлсэн</a:t>
            </a:r>
          </a:p>
          <a:p>
            <a:pPr lvl="0"/>
            <a:r>
              <a:rPr/>
              <a:t>Тоон болон категори feature-ийг хамтад нь ашигласан</a:t>
            </a:r>
          </a:p>
          <a:p>
            <a:pPr lvl="0"/>
            <a:r>
              <a:rPr/>
              <a:t>Dev өгөгдөл дээр accuracy </a:t>
            </a:r>
            <a:r>
              <a:rPr b="1"/>
              <a:t>93.05%</a:t>
            </a:r>
            <a:r>
              <a:rPr/>
              <a:t> гарсан</a:t>
            </a:r>
          </a:p>
          <a:p>
            <a:pPr lvl="0"/>
            <a:r>
              <a:rPr/>
              <a:t>Macro F1-score </a:t>
            </a:r>
            <a:r>
              <a:rPr b="1"/>
              <a:t>92.29%</a:t>
            </a:r>
            <a:r>
              <a:rPr/>
              <a:t> гарсан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Ерөнхий дүгнэлт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Naive Bayes алгоритм нь social media хэрэглээний өгөгдөл дээр донтолтын түвшинг ангилахад тохиромжтой, хурдан, тайлбарлагдах боломжтой статистик арга болохыг туршилтын үр дүн харууллаа.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Багийн гишүүд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Гишүүн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Үүрэг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Нэр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Сэдэв, өгөгдлийн тайлбар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Нэр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Өгөгдөл бэлтгэл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Нэр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Bayes алгоритм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Нэр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Үнэлгээ, visualization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Нэр 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Тайлан, presentation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Ашигласан материал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Russell, S., &amp; Norvig, P. (2021). </a:t>
            </a:r>
            <a:r>
              <a:rPr i="1"/>
              <a:t>Artificial intelligence: A modern approach</a:t>
            </a:r>
            <a:r>
              <a:rPr/>
              <a:t>.</a:t>
            </a:r>
          </a:p>
          <a:p>
            <a:pPr lvl="0"/>
            <a:r>
              <a:rPr/>
              <a:t>Python Software Foundation. </a:t>
            </a:r>
            <a:r>
              <a:rPr i="1"/>
              <a:t>Python documentation</a:t>
            </a:r>
            <a:r>
              <a:rPr/>
              <a:t>.</a:t>
            </a:r>
          </a:p>
          <a:p>
            <a:pPr lvl="0"/>
            <a:r>
              <a:rPr/>
              <a:t>Scikit-learn Developers. </a:t>
            </a:r>
            <a:r>
              <a:rPr i="1"/>
              <a:t>Naive Bayes</a:t>
            </a:r>
            <a:r>
              <a:rPr/>
              <a:t>.</a:t>
            </a:r>
          </a:p>
          <a:p>
            <a:pPr lvl="0"/>
            <a:r>
              <a:rPr/>
              <a:t>Kaggle. </a:t>
            </a:r>
            <a:r>
              <a:rPr i="1"/>
              <a:t>Datasets</a:t>
            </a:r>
            <a:r>
              <a:rPr/>
              <a:t>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Анхаарал тавьсанд баярлалаа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Асуулт байна уу?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Naive Bayes ашиглан social media донтолтын түвшин тогтоох нь</dc:title>
  <dc:creator>Багийн нэр / гишүүдийн нэрс</dc:creator>
  <cp:keywords/>
  <dcterms:created xsi:type="dcterms:W3CDTF">2026-05-14T14:24:48Z</dcterms:created>
  <dcterms:modified xsi:type="dcterms:W3CDTF">2026-05-14T14:24:48Z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 оны 5-р сарын 14</vt:lpwstr>
  </property>
  <property fmtid="{D5CDD505-2E9C-101B-9397-08002B2CF9AE}" pid="6" name="date-format">
    <vt:lpwstr>YYYY оны M-р сарын D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Gen Z хэрэглэгчдийн social media хэрэглээний өгөгдөл дээр хийсэн машин сургалтын төсөл</vt:lpwstr>
  </property>
  <property fmtid="{D5CDD505-2E9C-101B-9397-08002B2CF9AE}" pid="14" name="toc-title">
    <vt:lpwstr>Table of contents</vt:lpwstr>
  </property>
</Properties>
</file>